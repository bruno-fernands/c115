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3" r:id="rId7"/>
    <p:sldId id="264" r:id="rId8"/>
    <p:sldId id="265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D4404-F113-7E5E-3694-97718A2F3228}" v="22" dt="2026-06-18T20:20:55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6F2A2-62B0-4216-8F0C-D26D351CB011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05FC6-B045-4F51-86D3-9F1BB4B0A7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projeto: uma câmara de fermentação inteligente com IoT, cobrindo três casos de uso práticos com valores científicos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produto e a ideia de implementação IoT. Destacar que é multi-propósito e usa protocolo MQTT padrão da indústria.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caso de uso tem organismos e parâmetros distintos. Essa diversidade valida a importância do sistema ser configurável e não hard-coded.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central para o projeto. Cada threshold tem respaldo em literatura científica e data sheets de fabricantes de fermento. O sistema usa esses valores para disparar alertas e acionar atuadores — jamais valores aleatórios.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ESP32 é o cérebro do sistema — um microcontrolador com WiFi integrado. Os sensores foram escolhidos por precisão e custo-benefício. No protótipo simulado, um script Python substitui o ESP32.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Nenhuma solução existente combina: multi-propósito + MQTT nativo + CO₂ + app mobile + controle remoto de atuadores. Há espaço claro para nossa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os diferenciais competitivos. O sensor de CO₂ como indicador de atividade e a integração MQTT são os pontos mais fortes.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Margem de lucro estimada de 87–150%. O maior custo é o sensor de CO₂ (MH-Z19B). Uma versão sem CO₂ custaria ~R$155 com preço de venda de ~R$280.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Executar publisher.py e subscriber.py em terminais separados. O publisher simula o ESP32; o subscriber simula o app móvel. Ambos se comunicam via broker público gratuito.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828800"/>
            <a:ext cx="5029200" cy="5029200"/>
          </a:xfrm>
          <a:prstGeom prst="ellipse">
            <a:avLst/>
          </a:prstGeom>
          <a:solidFill>
            <a:srgbClr val="C4782A">
              <a:alpha val="13000"/>
            </a:srgbClr>
          </a:solidFill>
          <a:ln w="12700">
            <a:solidFill>
              <a:srgbClr val="C4782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7B3F1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D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Câmara de Fermentação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47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A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Controle IoT de Processos Fermentativos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468880" cy="347472"/>
          </a:xfrm>
          <a:prstGeom prst="roundRect">
            <a:avLst>
              <a:gd name="adj" fmla="val 26316"/>
            </a:avLst>
          </a:prstGeom>
          <a:solidFill>
            <a:srgbClr val="7B3F10"/>
          </a:solidFill>
          <a:ln w="7620">
            <a:solidFill>
              <a:srgbClr val="C47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🍞  Pão Artesanal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2468880" cy="347472"/>
          </a:xfrm>
          <a:prstGeom prst="roundRect">
            <a:avLst>
              <a:gd name="adj" fmla="val 26316"/>
            </a:avLst>
          </a:prstGeom>
          <a:solidFill>
            <a:srgbClr val="7B3F10"/>
          </a:solidFill>
          <a:ln w="7620">
            <a:solidFill>
              <a:srgbClr val="C47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 Cerveja Artesanal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3154680"/>
            <a:ext cx="2468880" cy="347472"/>
          </a:xfrm>
          <a:prstGeom prst="roundRect">
            <a:avLst>
              <a:gd name="adj" fmla="val 26316"/>
            </a:avLst>
          </a:prstGeom>
          <a:solidFill>
            <a:srgbClr val="7B3F10"/>
          </a:solidFill>
          <a:ln w="7620">
            <a:solidFill>
              <a:srgbClr val="C47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154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🍵  Kombucha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C115 • Conceitos e Tecnologias para Dispositivos Conectados • Inatel •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solução IoT completa para monitoramento e controle de ambientes fermentativos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4937760" cy="3749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endParaRPr lang="en-US" sz="1350" b="1" dirty="0">
              <a:solidFill>
                <a:srgbClr val="C4782A"/>
              </a:solidFill>
              <a:latin typeface="Calibri"/>
              <a:ea typeface="Calibri"/>
              <a:cs typeface="Calibri"/>
            </a:endParaRPr>
          </a:p>
          <a:p>
            <a:endParaRPr lang="en-US" sz="1350" b="1" dirty="0">
              <a:solidFill>
                <a:srgbClr val="C4782A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50" b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1350" b="1" err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350" b="1" dirty="0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 é?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 Câmara de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Fermentação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Inteligente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é um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sistema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IoT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monitora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continuamente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parâmetros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críticos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de um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processo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fermentativo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temperatura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umidade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relativa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e CO₂ — e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aciona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atuadores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automaticamente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manter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condições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ideais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Como </a:t>
            </a:r>
            <a:r>
              <a:rPr lang="en-US" sz="1350" b="1" dirty="0" err="1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funciona</a:t>
            </a:r>
            <a:r>
              <a:rPr lang="en-US" sz="1350" b="1" dirty="0">
                <a:solidFill>
                  <a:srgbClr val="C4782A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35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Um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microcontrolador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ESP32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lê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sensores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e publica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os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dados via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protocolo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MQTT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um broker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na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nuvem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. O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usuário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acompanha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tudo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tempo real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aplicativo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móvel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recebe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alertas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pode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controlar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aquecedor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umidificador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 err="1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remotamente</a:t>
            </a:r>
            <a:r>
              <a:rPr lang="en-US" sz="1250" dirty="0">
                <a:solidFill>
                  <a:srgbClr val="1C1C1C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577840" y="1115568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0" y="1426464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04" y="1478768"/>
            <a:ext cx="370881" cy="3708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2070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Pão Artesanal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91072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temperatura e umidade durante a prova da massa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377440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2688336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304" y="2740640"/>
            <a:ext cx="370881" cy="37088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91072" y="24688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Cerveja Artesanal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91072" y="27980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térmico ajustado conforme a cepa de fermento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577840" y="3639312"/>
            <a:ext cx="3200400" cy="1115568"/>
          </a:xfrm>
          <a:prstGeom prst="roundRect">
            <a:avLst>
              <a:gd name="adj" fmla="val 983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3950208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304" y="4002512"/>
            <a:ext cx="370881" cy="37088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3730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Kombucha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91072" y="40599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temperatura e atividade do SCOBY continuamente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Casos de Uso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processo fermentativo possui parâmetros distintos — todos monitorados pelo mesmo sistema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2816352" cy="804672"/>
          </a:xfrm>
          <a:prstGeom prst="roundRect">
            <a:avLst>
              <a:gd name="adj" fmla="val 13636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261872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96" y="1314176"/>
            <a:ext cx="370881" cy="3708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264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Pão Artesanal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9264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Saccharomyces cerevisiae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8912" y="212140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" y="2151583"/>
            <a:ext cx="213970" cy="21397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Fermento sensível a variações de temp.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8912" y="276148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" y="2791663"/>
            <a:ext cx="213970" cy="21397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7432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Umidade evita ressecamento da massa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38912" y="340156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" y="3431743"/>
            <a:ext cx="213970" cy="2139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672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prova: 1–2h  •  2ª prova: 30–60 min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8912" y="404164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" y="4071823"/>
            <a:ext cx="213970" cy="21397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4672" y="40233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Câmara típica: caixa com resistência e umidificador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200400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00400" y="1143000"/>
            <a:ext cx="2816352" cy="804672"/>
          </a:xfrm>
          <a:prstGeom prst="roundRect">
            <a:avLst>
              <a:gd name="adj" fmla="val 13636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37560" y="1261872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864" y="1314176"/>
            <a:ext cx="370881" cy="37088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913632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Cerveja Artesanal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3913632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(ale) / S. pastorianus (lager)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3383280" y="212140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55" y="2151583"/>
            <a:ext cx="213970" cy="21397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749040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Ale: fermentação a 18–22°C por 5–10 dias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3383280" y="276148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55" y="2791663"/>
            <a:ext cx="213970" cy="21397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49040" y="27432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Lager: fermentação a 8–12°C por 10–21 dias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3383280" y="340156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55" y="3431743"/>
            <a:ext cx="213970" cy="21397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749040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incorretas geram off-flavors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3383280" y="404164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55" y="4071823"/>
            <a:ext cx="213970" cy="21397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749040" y="40233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térmico é o maior desafio do homebrewing</a:t>
            </a:r>
            <a:endParaRPr lang="en-US" sz="1100" dirty="0"/>
          </a:p>
        </p:txBody>
      </p:sp>
      <p:sp>
        <p:nvSpPr>
          <p:cNvPr id="41" name="Shape 29"/>
          <p:cNvSpPr/>
          <p:nvPr/>
        </p:nvSpPr>
        <p:spPr>
          <a:xfrm>
            <a:off x="6144768" y="1143000"/>
            <a:ext cx="2816352" cy="3703320"/>
          </a:xfrm>
          <a:prstGeom prst="roundRect">
            <a:avLst>
              <a:gd name="adj" fmla="val 38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6144768" y="1143000"/>
            <a:ext cx="2816352" cy="804672"/>
          </a:xfrm>
          <a:prstGeom prst="roundRect">
            <a:avLst>
              <a:gd name="adj" fmla="val 13636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281928" y="1261872"/>
            <a:ext cx="475488" cy="47548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232" y="1314176"/>
            <a:ext cx="370881" cy="370881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858000" y="1207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Kombucha</a:t>
            </a:r>
            <a:endParaRPr lang="en-US" sz="1300" dirty="0"/>
          </a:p>
        </p:txBody>
      </p:sp>
      <p:sp>
        <p:nvSpPr>
          <p:cNvPr id="46" name="Text 33"/>
          <p:cNvSpPr/>
          <p:nvPr/>
        </p:nvSpPr>
        <p:spPr>
          <a:xfrm>
            <a:off x="6858000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SCOBY (comunidade simbiótica de bactérias e leveduras)</a:t>
            </a:r>
            <a:endParaRPr lang="en-US" sz="850" dirty="0"/>
          </a:p>
        </p:txBody>
      </p:sp>
      <p:sp>
        <p:nvSpPr>
          <p:cNvPr id="47" name="Shape 34"/>
          <p:cNvSpPr/>
          <p:nvPr/>
        </p:nvSpPr>
        <p:spPr>
          <a:xfrm>
            <a:off x="6327648" y="212140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2151583"/>
            <a:ext cx="213970" cy="213970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69340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Fermentação primária: 7–14 dias a 24–29°C</a:t>
            </a:r>
            <a:endParaRPr lang="en-US" sz="1100" dirty="0"/>
          </a:p>
        </p:txBody>
      </p:sp>
      <p:sp>
        <p:nvSpPr>
          <p:cNvPr id="50" name="Shape 36"/>
          <p:cNvSpPr/>
          <p:nvPr/>
        </p:nvSpPr>
        <p:spPr>
          <a:xfrm>
            <a:off x="6327648" y="276148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2791663"/>
            <a:ext cx="213970" cy="21397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693408" y="27432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cai de 7,0 para 2,5–3,5 (acidificação)</a:t>
            </a:r>
            <a:endParaRPr lang="en-US" sz="1100" dirty="0"/>
          </a:p>
        </p:txBody>
      </p:sp>
      <p:sp>
        <p:nvSpPr>
          <p:cNvPr id="53" name="Shape 38"/>
          <p:cNvSpPr/>
          <p:nvPr/>
        </p:nvSpPr>
        <p:spPr>
          <a:xfrm>
            <a:off x="6327648" y="340156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3431743"/>
            <a:ext cx="213970" cy="21397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6693408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alta favorece bactérias indesejadas</a:t>
            </a:r>
            <a:endParaRPr lang="en-US" sz="1100" dirty="0"/>
          </a:p>
        </p:txBody>
      </p:sp>
      <p:sp>
        <p:nvSpPr>
          <p:cNvPr id="56" name="Shape 40"/>
          <p:cNvSpPr/>
          <p:nvPr/>
        </p:nvSpPr>
        <p:spPr>
          <a:xfrm>
            <a:off x="6327648" y="4041648"/>
            <a:ext cx="274320" cy="274320"/>
          </a:xfrm>
          <a:prstGeom prst="ellipse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4071823"/>
            <a:ext cx="213970" cy="21397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6693408" y="402336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garante consistência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Científicos e Thresholds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Cada parâmetro tem base em biologia/bioquímica</a:t>
            </a:r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051560"/>
          <a:ext cx="8631935" cy="3438144"/>
        </p:xfrm>
        <a:graphic>
          <a:graphicData uri="http://schemas.openxmlformats.org/drawingml/2006/table">
            <a:tbl>
              <a:tblPr/>
              <a:tblGrid>
                <a:gridCol w="1726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6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6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Pão (S. cerevisiae)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Cerveja 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Cerveja Lager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Kombucha (SCOBY)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F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 Ideal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– 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– 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– 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 Mínima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(lento)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(muito lento)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(dormência)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(lento)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 Máxima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(estresse)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(off-flavors)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(off-flavors)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(risco bact.)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Temp. Letal (°C)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Umidade Ideal (%)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– 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— Alerta (ppm)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7A5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2.500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 típica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4 horas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10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21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– 14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0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256032" y="4873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6EF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" y="4855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ideal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84832" y="4873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EF3C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40864" y="4855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/ desvio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13632" y="487375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DA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9664" y="4855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/ letal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577840" y="4855464"/>
            <a:ext cx="329184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endParaRPr lang="en-US" sz="800" i="1" dirty="0">
              <a:solidFill>
                <a:srgbClr val="6B6B6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 e Hardware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utilizados na solução — simulados em Python no protótipo atual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1430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" y="17419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2710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42416" y="15819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1214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leituras dos sensores e publica via MQTT. WiFi integrado, sem necessidade de módulo extra.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36976" y="11430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01568" y="16916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860" y="17419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86784" y="12710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986784" y="15819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+ Umidade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1568" y="21214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temperatura (−40 a 80°C, ±0,5°C) e umidade relativa (0–100% RH, ±2%). Mais preciso que DHT11.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81344" y="11430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45936" y="16916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74193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31152" y="12710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931152" y="15819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do líquido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45936" y="21214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à prova d'água para medir temperatura dentro do fermentador. Ideal para cerveja e kombucha.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92608" y="29718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" y="3570732"/>
            <a:ext cx="356616" cy="3566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42416" y="30998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MH-Z19B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1042416" y="34107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CO₂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39502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CO₂ por infravermelho (400–5000 ppm). Indica atividade do fermento — quanto mais CO₂, mais ativo.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36976" y="29718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401568" y="35204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860" y="3570732"/>
            <a:ext cx="356616" cy="35661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86784" y="30998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Relay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3986784" y="34107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401568" y="39502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aquecedor (resistência elétrica) e umidificador com base nos valores recebidos via MQTT.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81344" y="2971800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45936" y="3520440"/>
            <a:ext cx="457200" cy="45720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3570732"/>
            <a:ext cx="356616" cy="35661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31152" y="30998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931152" y="34107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345936" y="395020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 gratuito na nuvem. Recebe e distribui mensagens entre o ESP32 e o aplicativo móvel.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Soluções Comerciais Existentes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existe no mercado e o que ainda falta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2798064" cy="3566160"/>
          </a:xfrm>
          <a:prstGeom prst="roundRect">
            <a:avLst>
              <a:gd name="adj" fmla="val 392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98064" cy="658368"/>
          </a:xfrm>
          <a:prstGeom prst="roundRect">
            <a:avLst>
              <a:gd name="adj" fmla="val 16667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BrewPi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Cerveja artesanal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836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Pontos positivos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Controle de temperatura preciso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e software gratuitos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980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Comunidade ativa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638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Limitações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4198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Apenas temperatura (sem umidade/CO₂)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app mobile nativo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041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Somente cerveja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1078992"/>
            <a:ext cx="2798064" cy="3566160"/>
          </a:xfrm>
          <a:prstGeom prst="roundRect">
            <a:avLst>
              <a:gd name="adj" fmla="val 392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78992"/>
            <a:ext cx="2798064" cy="658368"/>
          </a:xfrm>
          <a:prstGeom prst="roundRect">
            <a:avLst>
              <a:gd name="adj" fmla="val 16667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Inkbird ITC-308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10128" y="14264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comercial  •  Controlador físico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18836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Pontos positivos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Fácil de usar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4688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Controla aquecedor e resfriador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7980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Barato (~R$ 150)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1638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Limitações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34198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conectividade WiFi/MQTT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7307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monitoramento remoto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0128" y="4041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histórico de dados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1078992"/>
            <a:ext cx="2798064" cy="3566160"/>
          </a:xfrm>
          <a:prstGeom prst="roundRect">
            <a:avLst>
              <a:gd name="adj" fmla="val 3922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078992"/>
            <a:ext cx="2798064" cy="658368"/>
          </a:xfrm>
          <a:prstGeom prst="roundRect">
            <a:avLst>
              <a:gd name="adj" fmla="val 16667"/>
            </a:avLst>
          </a:prstGeom>
          <a:solidFill>
            <a:srgbClr val="7B3F10"/>
          </a:solidFill>
          <a:ln w="12700">
            <a:solidFill>
              <a:srgbClr val="7B3F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1155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 Hydrometer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54496" y="142646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D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comercial  •  Cerveja artesanal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4496" y="188366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6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Pontos positivos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Mede densidade + temperatura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246888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Transmite via Bluetooth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279806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Rastreia evolução da fermentação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54496" y="316382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Limitações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34198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Apenas Bluetooth (curto alcance)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54496" y="37307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controle de ambiente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40416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umidade ou CO₂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Diferenciais e Benefícios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essa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solução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oferece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as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existentes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não</a:t>
            </a:r>
            <a:r>
              <a:rPr lang="en-US" sz="1200" i="1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i="1" dirty="0" err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têm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78992"/>
            <a:ext cx="1993392" cy="841248"/>
          </a:xfrm>
          <a:prstGeom prst="roundRect">
            <a:avLst>
              <a:gd name="adj" fmla="val 13043"/>
            </a:avLst>
          </a:prstGeom>
          <a:solidFill>
            <a:srgbClr val="7B3F10"/>
          </a:solidFill>
          <a:ln w="6350">
            <a:solidFill>
              <a:srgbClr val="7B3F1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115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D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em 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1993392" cy="841248"/>
          </a:xfrm>
          <a:prstGeom prst="roundRect">
            <a:avLst>
              <a:gd name="adj" fmla="val 13043"/>
            </a:avLst>
          </a:prstGeom>
          <a:solidFill>
            <a:srgbClr val="7B3F10"/>
          </a:solidFill>
          <a:ln w="6350">
            <a:solidFill>
              <a:srgbClr val="7B3F1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15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D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1078992"/>
            <a:ext cx="1993392" cy="841248"/>
          </a:xfrm>
          <a:prstGeom prst="roundRect">
            <a:avLst>
              <a:gd name="adj" fmla="val 13043"/>
            </a:avLst>
          </a:prstGeom>
          <a:solidFill>
            <a:srgbClr val="7B3F10"/>
          </a:solidFill>
          <a:ln w="6350">
            <a:solidFill>
              <a:srgbClr val="7B3F1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115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D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 alertas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21424" y="1078992"/>
            <a:ext cx="1993392" cy="841248"/>
          </a:xfrm>
          <a:prstGeom prst="roundRect">
            <a:avLst>
              <a:gd name="adj" fmla="val 13043"/>
            </a:avLst>
          </a:prstGeom>
          <a:solidFill>
            <a:srgbClr val="7B3F10"/>
          </a:solidFill>
          <a:ln w="6350">
            <a:solidFill>
              <a:srgbClr val="7B3F1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21424" y="111556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D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21424" y="153619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remoto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214884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0" y="2562880"/>
            <a:ext cx="342351" cy="34235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24128" y="2240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Multi-propósito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024128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Pão, cerveja e kombucha em um só sistema configurável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36976" y="214884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01568" y="251460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848" y="2562880"/>
            <a:ext cx="342351" cy="34235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968496" y="2240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nativo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3968496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natural com Home Assistant, Node-RED e Grafana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181344" y="214884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45936" y="251460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216" y="2562880"/>
            <a:ext cx="342351" cy="342351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12864" y="22402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CO₂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6912864" y="25877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direto de atividade fermentativa — único no segmento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92608" y="356616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57200" y="393192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80" y="3980200"/>
            <a:ext cx="342351" cy="342351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24128" y="3657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em tempo real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1024128" y="40050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remoto 24h com alertas push no smartphone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3236976" y="356616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401568" y="393192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848" y="3980200"/>
            <a:ext cx="342351" cy="342351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968496" y="3657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3968496" y="40050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via MQTT + banco de dados para análise posterior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181344" y="3566160"/>
            <a:ext cx="2788920" cy="1261872"/>
          </a:xfrm>
          <a:prstGeom prst="roundRect">
            <a:avLst>
              <a:gd name="adj" fmla="val 8696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6345936" y="3931920"/>
            <a:ext cx="438912" cy="438912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216" y="3980200"/>
            <a:ext cx="342351" cy="34235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912864" y="3657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automático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6912864" y="40050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Aquecedor e umidificador acionados automaticamente sem intervenção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Viabilidade Comercial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mercado, custo de componentes e público-alvo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Mercado-Alvo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365760" cy="36576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4" y="1613002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57276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Padeiros artesanais e home bakers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(mercado de sourdough cresceu 400% pós-pandemia)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2395728"/>
            <a:ext cx="365760" cy="36576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4" y="2435962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23957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Cervejeiros amadores — Brazil Beer Cup atrai milhares de participantes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3218688"/>
            <a:ext cx="365760" cy="36576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14" y="325892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32186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de kombucha — mercado cresce 20%/ano no Brasil (SEBRAE, 2023)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11480" y="4041648"/>
            <a:ext cx="365760" cy="365760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4" y="4081882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40416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padarias e microcervejarias — redução de perdas operacionais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4983480" y="1097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Componentes (BOM)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83480" y="15727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7772400" y="157276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983480" y="1975104"/>
            <a:ext cx="3813048" cy="13716"/>
          </a:xfrm>
          <a:prstGeom prst="rect">
            <a:avLst/>
          </a:prstGeom>
          <a:solidFill>
            <a:srgbClr val="E5D0B8"/>
          </a:solidFill>
          <a:ln w="12700">
            <a:solidFill>
              <a:srgbClr val="E5D0B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983480" y="204825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772400" y="204825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R$ 25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983480" y="2450592"/>
            <a:ext cx="3813048" cy="13716"/>
          </a:xfrm>
          <a:prstGeom prst="rect">
            <a:avLst/>
          </a:prstGeom>
          <a:solidFill>
            <a:srgbClr val="E5D0B8"/>
          </a:solidFill>
          <a:ln w="12700">
            <a:solidFill>
              <a:srgbClr val="E5D0B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983480" y="25237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(à prova d'água)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772400" y="252374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983480" y="2926080"/>
            <a:ext cx="3813048" cy="13716"/>
          </a:xfrm>
          <a:prstGeom prst="rect">
            <a:avLst/>
          </a:prstGeom>
          <a:solidFill>
            <a:srgbClr val="E5D0B8"/>
          </a:solidFill>
          <a:ln w="12700">
            <a:solidFill>
              <a:srgbClr val="E5D0B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983480" y="299923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MH-Z19B (CO₂)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7772400" y="299923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R$ 85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983480" y="3401568"/>
            <a:ext cx="3813048" cy="13716"/>
          </a:xfrm>
          <a:prstGeom prst="rect">
            <a:avLst/>
          </a:prstGeom>
          <a:solidFill>
            <a:srgbClr val="E5D0B8"/>
          </a:solidFill>
          <a:ln w="12700">
            <a:solidFill>
              <a:srgbClr val="E5D0B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83480" y="34747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Relay 2ch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7772400" y="347472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983480" y="3877056"/>
            <a:ext cx="3813048" cy="13716"/>
          </a:xfrm>
          <a:prstGeom prst="rect">
            <a:avLst/>
          </a:prstGeom>
          <a:solidFill>
            <a:srgbClr val="E5D0B8"/>
          </a:solidFill>
          <a:ln w="12700">
            <a:solidFill>
              <a:srgbClr val="E5D0B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983480" y="39502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 + resistência + case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772400" y="395020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983480" y="4425696"/>
            <a:ext cx="3813048" cy="18288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983480" y="4480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BOM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315200" y="44805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B3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R$ 240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498348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venda potencial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7114032" y="48280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6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 – 600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Simulação em Python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que simulam o ESP32 publicando e um assinante recebendo os dados via MQTT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280160"/>
            <a:ext cx="384048" cy="38404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" y="1322405"/>
            <a:ext cx="299557" cy="2995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24712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publisher.py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24712" y="14630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o ESP32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publicando sensores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36392" y="14447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2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20440" y="107899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85032" y="1280160"/>
            <a:ext cx="384048" cy="38404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277" y="1322405"/>
            <a:ext cx="299557" cy="29955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7952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test.mosquitto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7B3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.org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187952" y="14630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gratuito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199632" y="14447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782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583680" y="1078992"/>
            <a:ext cx="2651760" cy="1005840"/>
          </a:xfrm>
          <a:prstGeom prst="roundRect">
            <a:avLst>
              <a:gd name="adj" fmla="val 10909"/>
            </a:avLst>
          </a:prstGeom>
          <a:solidFill>
            <a:srgbClr val="FEF5EA"/>
          </a:solidFill>
          <a:ln w="6350">
            <a:solidFill>
              <a:srgbClr val="E5D0B8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748272" y="1280160"/>
            <a:ext cx="384048" cy="384048"/>
          </a:xfrm>
          <a:prstGeom prst="ellipse">
            <a:avLst/>
          </a:prstGeom>
          <a:solidFill>
            <a:srgbClr val="C4782A"/>
          </a:solidFill>
          <a:ln w="12700">
            <a:solidFill>
              <a:srgbClr val="C4782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517" y="1322405"/>
            <a:ext cx="299557" cy="29955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51192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3F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subscriber.py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146304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o app móvel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recebendo dados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347472" y="22311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publisher.py — trecho principal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47472" y="2514600"/>
            <a:ext cx="4206240" cy="2423160"/>
          </a:xfrm>
          <a:prstGeom prst="roundRect">
            <a:avLst>
              <a:gd name="adj" fmla="val 3774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12064" y="2633472"/>
            <a:ext cx="38770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CBA6F7"/>
                </a:solidFill>
                <a:latin typeface="Courier New"/>
                <a:ea typeface="Courier New" pitchFamily="34" charset="-122"/>
                <a:cs typeface="Courier New"/>
              </a:rPr>
              <a:t>import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paho.mqtt.client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as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mqtt</a:t>
            </a:r>
            <a:endParaRPr lang="en-US" sz="900" dirty="0" err="1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CBA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json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, time, random</a:t>
            </a:r>
            <a:r>
              <a:rPr lang="en-US" sz="900" dirty="0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
# </a:t>
            </a:r>
            <a:r>
              <a:rPr lang="en-US" sz="900" dirty="0" err="1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Perfil</a:t>
            </a:r>
            <a:r>
              <a:rPr lang="en-US" sz="900" dirty="0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: </a:t>
            </a:r>
            <a:r>
              <a:rPr lang="en-US" sz="900" dirty="0" err="1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pão</a:t>
            </a:r>
            <a:r>
              <a:rPr lang="en-US" sz="900" dirty="0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 — temp ideal 24-27°C
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BROKER</a:t>
            </a:r>
            <a:r>
              <a:rPr lang="en-US" sz="900" dirty="0">
                <a:solidFill>
                  <a:srgbClr val="89DCEB"/>
                </a:solidFill>
                <a:latin typeface="Courier New"/>
                <a:ea typeface="Courier New" pitchFamily="34" charset="-122"/>
                <a:cs typeface="Courier New"/>
              </a:rPr>
              <a:t> = 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"test.mosquitto.org"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client.connect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(BROKER, 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1883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)
</a:t>
            </a:r>
            <a:r>
              <a:rPr lang="en-US" sz="900" dirty="0">
                <a:solidFill>
                  <a:srgbClr val="CBA6F7"/>
                </a:solidFill>
                <a:latin typeface="Courier New"/>
                <a:ea typeface="Courier New" pitchFamily="34" charset="-122"/>
                <a:cs typeface="Courier New"/>
              </a:rPr>
              <a:t>while True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:</a:t>
            </a:r>
            <a:endParaRPr lang="en-US" sz="900">
              <a:latin typeface="Courier New"/>
              <a:ea typeface="Calibri"/>
              <a:cs typeface="Calibri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temp =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simular_temperatura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()</a:t>
            </a:r>
            <a:endParaRPr lang="en-US" sz="900">
              <a:latin typeface="Courier New"/>
              <a:ea typeface="Calibri"/>
              <a:cs typeface="Calibri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payload =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json.dumps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({</a:t>
            </a:r>
            <a:endParaRPr lang="en-US" sz="900">
              <a:latin typeface="Courier New"/>
              <a:ea typeface="Calibri"/>
              <a:cs typeface="Calibri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  </a:t>
            </a:r>
            <a:endParaRPr lang="en-US" sz="900">
              <a:latin typeface="Courier New"/>
              <a:ea typeface="Calibri"/>
              <a:cs typeface="Calibri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"valor"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: temp, 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"</a:t>
            </a:r>
            <a:r>
              <a:rPr lang="en-US" sz="900" dirty="0" err="1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unidade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"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: "°C"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client.publish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"</a:t>
            </a:r>
            <a:r>
              <a:rPr lang="en-US" sz="900" dirty="0" err="1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inatel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/</a:t>
            </a:r>
            <a:r>
              <a:rPr lang="en-US" sz="900" dirty="0" err="1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fermentacao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/sensor/</a:t>
            </a:r>
            <a:r>
              <a:rPr lang="en-US" sz="900" dirty="0" err="1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temperatura</a:t>
            </a: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"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,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  payload,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qos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=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  </a:t>
            </a:r>
            <a:r>
              <a:rPr lang="en-US" sz="900" dirty="0" err="1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time.sleep</a:t>
            </a:r>
            <a:r>
              <a:rPr lang="en-US" sz="900" dirty="0">
                <a:solidFill>
                  <a:srgbClr val="A6E3A1"/>
                </a:solidFill>
                <a:latin typeface="Courier New"/>
                <a:ea typeface="Courier New" pitchFamily="34" charset="-122"/>
                <a:cs typeface="Courier New"/>
              </a:rPr>
              <a:t>(</a:t>
            </a:r>
            <a:endParaRPr lang="en-US" sz="900" dirty="0">
              <a:latin typeface="Courier New"/>
              <a:cs typeface="Courier New"/>
            </a:endParaRPr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9E2AF"/>
                </a:solidFill>
                <a:latin typeface="Courier New"/>
                <a:ea typeface="Courier New" pitchFamily="34" charset="-122"/>
                <a:cs typeface="Courier New"/>
              </a:rPr>
              <a:t>2</a:t>
            </a:r>
            <a:r>
              <a:rPr lang="en-US" sz="900" dirty="0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)  # 2s = 30s no </a:t>
            </a:r>
            <a:r>
              <a:rPr lang="en-US" sz="900" dirty="0" err="1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dispositivo</a:t>
            </a:r>
            <a:r>
              <a:rPr lang="en-US" sz="900" dirty="0">
                <a:solidFill>
                  <a:srgbClr val="6B6B6B"/>
                </a:solidFill>
                <a:latin typeface="Courier New"/>
                <a:ea typeface="Courier New" pitchFamily="34" charset="-122"/>
                <a:cs typeface="Courier New"/>
              </a:rPr>
              <a:t> real</a:t>
            </a:r>
            <a:endParaRPr lang="en-US" sz="900" dirty="0">
              <a:latin typeface="Courier New"/>
              <a:cs typeface="Courier New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773168" y="22311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subscriber.py — saída no terminal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73168" y="2514600"/>
            <a:ext cx="4114800" cy="2423160"/>
          </a:xfrm>
          <a:prstGeom prst="roundRect">
            <a:avLst>
              <a:gd name="adj" fmla="val 3774"/>
            </a:avLst>
          </a:prstGeom>
          <a:solidFill>
            <a:srgbClr val="1E1E2E"/>
          </a:solidFill>
          <a:ln w="12700">
            <a:solidFill>
              <a:srgbClr val="313244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919472" y="2633472"/>
            <a:ext cx="38039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[MQTT] Conectado ao broker
</a:t>
            </a: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[MQTT] Assinando: inatel/fermentacao/#
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[09:14:02] 🌡  TEMPERATURA:  24.83 °C
</a:t>
            </a:r>
            <a:r>
              <a:rPr lang="en-US" sz="900" dirty="0">
                <a:solidFill>
                  <a:srgbClr val="89D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[09:14:02] 💧 UMIDADE:       77.41 %
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[09:14:02] 💨 CO₂:           1.142 ppm
</a:t>
            </a: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[09:14:04] ⚪ AQUECEDOR:    desligado
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[09:14:10] 🌡  TEMPERATURA:  23.61 °C
</a:t>
            </a: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[09:14:10] 🔴 AQUECEDOR:    LIGADO
</a:t>
            </a: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motivo: temp &lt; 24°C
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[09:14:30] ⚠  ALERTA: CO₂ elevado
</a:t>
            </a:r>
            <a:r>
              <a:rPr lang="en-US" sz="9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Valor: 2.143 ppm &gt; 2.000 ppm
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7472" y="4956048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Instalar: pip install paho-mqtt  •  Executar publisher.py e subscriber.py em terminais separados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Câmara de Fermentação Inteligente</dc:title>
  <dc:subject>PptxGenJS Presentation</dc:subject>
  <dc:creator>Inatel C115</dc:creator>
  <cp:lastModifiedBy>Inatel C115</cp:lastModifiedBy>
  <cp:revision>21</cp:revision>
  <dcterms:created xsi:type="dcterms:W3CDTF">2026-06-16T20:52:07Z</dcterms:created>
  <dcterms:modified xsi:type="dcterms:W3CDTF">2026-06-18T21:05:31Z</dcterms:modified>
</cp:coreProperties>
</file>